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01728"/>
          </a:solidFill>
          <a:ln w="1905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k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2377440" cy="13615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88720" y="2377440"/>
            <a:ext cx="3657600" cy="384048"/>
          </a:xfrm>
          <a:prstGeom prst="roundRect">
            <a:avLst/>
          </a:prstGeom>
          <a:solidFill>
            <a:srgbClr val="142630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EA5E9"/>
                </a:solidFill>
                <a:latin typeface="Arial"/>
              </a:defRPr>
            </a:pPr>
            <a:r>
              <a:t>NEXT-GENERATION ENTERPRISE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HKC ERP v5</a:t>
            </a:r>
          </a:p>
          <a:p>
            <a:pPr>
              <a:spcBef>
                <a:spcPts val="800"/>
              </a:spcBef>
              <a:defRPr sz="1800" b="1">
                <a:solidFill>
                  <a:srgbClr val="10B981"/>
                </a:solidFill>
                <a:latin typeface="Arial"/>
              </a:defRPr>
            </a:pPr>
            <a:r>
              <a:t>The Intelligent Operating System for African Commodity Export &amp; Healthcare Logistics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  <a:latin typeface="Arial"/>
              </a:defRPr>
            </a:pPr>
            <a:r>
              <a:t>Unifying Ethiopian Agricultural Toll Processing, Pharmaceutical FEFO Traceability &amp; Statutory Peachtree Accounting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709160"/>
            <a:ext cx="3108960" cy="1097280"/>
          </a:xfrm>
          <a:prstGeom prst="roundRect">
            <a:avLst/>
          </a:prstGeom>
          <a:solidFill>
            <a:srgbClr val="0C122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WH1 EXPORT HUB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Arial"/>
              </a:defRPr>
            </a:pPr>
            <a:r>
              <a:t>Modjo Terminal • Coffee, Sesame &amp; Pulses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709160"/>
            <a:ext cx="3108960" cy="1097280"/>
          </a:xfrm>
          <a:prstGeom prst="roundRect">
            <a:avLst/>
          </a:prstGeom>
          <a:solidFill>
            <a:srgbClr val="0C1220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855F7"/>
                </a:solidFill>
                <a:latin typeface="Arial"/>
              </a:defRPr>
            </a:pPr>
            <a:r>
              <a:t>WH2 &amp; WH3 PHARMA HUBS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Arial"/>
              </a:defRPr>
            </a:pPr>
            <a:r>
              <a:t>Alem Bank &amp; Lebu • Strict FEFO &amp; Batch Trace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4709160"/>
            <a:ext cx="3108960" cy="1097280"/>
          </a:xfrm>
          <a:prstGeom prst="roundRect">
            <a:avLst/>
          </a:prstGeom>
          <a:solidFill>
            <a:srgbClr val="0C122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STATUTORY FINANCE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Arial"/>
              </a:defRPr>
            </a:pPr>
            <a:r>
              <a:t>Peachtree Sync • VAT 15% • WHT • CBE Banking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INDUSTRY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Dual-Frontier Dilemma: Why Off-the-Shelf ERPs Fail in Ethiopia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Cross-border trading companies operate in two incompatible worlds: Commodity Export and Pharmaceutical Import.</a:t>
            </a:r>
          </a:p>
        </p:txBody>
      </p:sp>
      <p:pic>
        <p:nvPicPr>
          <p:cNvPr id="6" name="Picture 5" descr="hk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11480"/>
            <a:ext cx="1280160" cy="733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HKC ERP v5 • Strategic Enterprise Deck • Powered by Next-Gen React 19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The Agricultural Export Bottleneck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WH1 Modjo Operations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ECX (Ethiopian Commodity Exchange) lot grading, moisture variance &amp; shrinkage loss.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Multi-step toll processing: cleaning, destoning, sorting, gravity separation &amp; hulling.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Rigid export licensing, phytosanitary clearance &amp; customs foreign exchange permits.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Off-the-shelf ERPs treat grain like retail barcode items, leading to severe stock bleed.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The Healthcare &amp; Veterinary Peril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WH2 &amp; WH3 Distribution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Strict batch-level expiry control; standard FIFO causes catastrophic expired-stock write-offs.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Cold-chain &amp; regulatory quarantine requirements from Ethiopian FDA and Ministry of Health.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Multi-currency import landed-costing with customs duty, freight &amp; port clearing overheads.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Inability to immediately freeze suspect lots without halting full warehouse dispatches.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The Accounting &amp; Statutory Disconnect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Peachtree &amp; Tax Reality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Most Ethiopian corporate finance teams run on Peachtree (Sage 50); modern cloud ERPs don't integrate.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Ethiopian tax mandates require automated 15% VAT, 2% goods WHT &amp; 30% unreceipted WHT calculation.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Traditional software can't do split COA accounting on a single sales issue or receiving voucher.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Heavy manual reconciliation between CBE / Awash bank accounts and operational cashflows.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Tri-Hub Operating Model: 3 Specialized Gateways, One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Unified command spanning the primary export corridor and the two national pharmaceutical distribution hubs.</a:t>
            </a:r>
          </a:p>
        </p:txBody>
      </p:sp>
      <p:pic>
        <p:nvPicPr>
          <p:cNvPr id="6" name="Picture 5" descr="hk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11480"/>
            <a:ext cx="1280160" cy="733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HKC ERP v5 • Strategic Enterprise Deck • Powered by Next-Gen React 19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WH1: Modjo Export Hub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Agricultural Commodity Terminal</a:t>
            </a:r>
          </a:p>
          <a:p>
            <a:pPr>
              <a:spcBef>
                <a:spcPts val="400"/>
              </a:spcBef>
              <a:defRPr sz="950" b="1">
                <a:solidFill>
                  <a:srgbClr val="10B981"/>
                </a:solidFill>
                <a:latin typeface="Arial"/>
              </a:defRPr>
            </a:pPr>
            <a:r>
              <a:t>LOCATION: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Modjo Dry Port Rail Corridor, Ethiopia</a:t>
            </a:r>
          </a:p>
          <a:p>
            <a:pPr>
              <a:spcBef>
                <a:spcPts val="400"/>
              </a:spcBef>
              <a:defRPr sz="950" b="1">
                <a:solidFill>
                  <a:srgbClr val="10B981"/>
                </a:solidFill>
                <a:latin typeface="Arial"/>
              </a:defRPr>
            </a:pPr>
            <a:r>
              <a:t>SPECIALIZATION: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Coffee (Yirgacheffe, Sidama), Sesame, Pulses, Soybeans</a:t>
            </a:r>
          </a:p>
          <a:p>
            <a:pPr>
              <a:spcBef>
                <a:spcPts val="400"/>
              </a:spcBef>
              <a:defRPr sz="950" b="1">
                <a:solidFill>
                  <a:srgbClr val="10B981"/>
                </a:solidFill>
                <a:latin typeface="Arial"/>
              </a:defRPr>
            </a:pPr>
            <a:r>
              <a:t>TARGET MARKETS: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Europe, Asia, North America, Middle East</a:t>
            </a:r>
          </a:p>
          <a:p>
            <a:pPr>
              <a:spcBef>
                <a:spcPts val="400"/>
              </a:spcBef>
              <a:defRPr sz="950" b="1">
                <a:solidFill>
                  <a:srgbClr val="10B981"/>
                </a:solidFill>
                <a:latin typeface="Arial"/>
              </a:defRPr>
            </a:pPr>
            <a:r>
              <a:t>CORE ENGINES: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Intake Moisture Labs, Destoning, Hulling, Toll Processing Ledger, Model 19 Receiving, Bin Cards</a:t>
            </a:r>
          </a:p>
          <a:p>
            <a:pPr>
              <a:spcBef>
                <a:spcPts val="400"/>
              </a:spcBef>
              <a:defRPr sz="950" b="1">
                <a:solidFill>
                  <a:srgbClr val="10B981"/>
                </a:solidFill>
                <a:latin typeface="Arial"/>
              </a:defRPr>
            </a:pPr>
            <a:r>
              <a:t>STATUS: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Fully Active • High-Throughput Rail Connected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WH2: Alem Bank Central Hub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Veterinary Import &amp; Biologicals</a:t>
            </a:r>
          </a:p>
          <a:p>
            <a:pPr>
              <a:spcBef>
                <a:spcPts val="400"/>
              </a:spcBef>
              <a:defRPr sz="950" b="1">
                <a:solidFill>
                  <a:srgbClr val="A855F7"/>
                </a:solidFill>
                <a:latin typeface="Arial"/>
              </a:defRPr>
            </a:pPr>
            <a:r>
              <a:t>LOCATION: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Alem Bank Commercial Hub, Addis Ababa</a:t>
            </a:r>
          </a:p>
          <a:p>
            <a:pPr>
              <a:spcBef>
                <a:spcPts val="400"/>
              </a:spcBef>
              <a:defRPr sz="950" b="1">
                <a:solidFill>
                  <a:srgbClr val="A855F7"/>
                </a:solidFill>
                <a:latin typeface="Arial"/>
              </a:defRPr>
            </a:pPr>
            <a:r>
              <a:t>SPECIALIZATION: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High-Potency Veterinary Drugs, Vaccines, Antibiotics (India)</a:t>
            </a:r>
          </a:p>
          <a:p>
            <a:pPr>
              <a:spcBef>
                <a:spcPts val="400"/>
              </a:spcBef>
              <a:defRPr sz="950" b="1">
                <a:solidFill>
                  <a:srgbClr val="A855F7"/>
                </a:solidFill>
                <a:latin typeface="Arial"/>
              </a:defRPr>
            </a:pPr>
            <a:r>
              <a:t>TARGET MARKETS: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National Commercial Farms, Regional Vet Clinics, Cooperatives</a:t>
            </a:r>
          </a:p>
          <a:p>
            <a:pPr>
              <a:spcBef>
                <a:spcPts val="400"/>
              </a:spcBef>
              <a:defRPr sz="950" b="1">
                <a:solidFill>
                  <a:srgbClr val="A855F7"/>
                </a:solidFill>
                <a:latin typeface="Arial"/>
              </a:defRPr>
            </a:pPr>
            <a:r>
              <a:t>CORE ENGINES: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FEFO Automated Dispatch, Cold-Chain Quarantine, Batch Expiry Radar (&lt;30, &lt;60, &lt;90 days)</a:t>
            </a:r>
          </a:p>
          <a:p>
            <a:pPr>
              <a:spcBef>
                <a:spcPts val="400"/>
              </a:spcBef>
              <a:defRPr sz="950" b="1">
                <a:solidFill>
                  <a:srgbClr val="A855F7"/>
                </a:solidFill>
                <a:latin typeface="Arial"/>
              </a:defRPr>
            </a:pPr>
            <a:r>
              <a:t>STATUS: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Fully Active • Climate &amp; Batch Controlled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WH3: Lebu Regional Hub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Veterinary Supplies &amp; Consumables</a:t>
            </a:r>
          </a:p>
          <a:p>
            <a:pPr>
              <a:spcBef>
                <a:spcPts val="400"/>
              </a:spcBef>
              <a:defRPr sz="950" b="1">
                <a:solidFill>
                  <a:srgbClr val="0EA5E9"/>
                </a:solidFill>
                <a:latin typeface="Arial"/>
              </a:defRPr>
            </a:pPr>
            <a:r>
              <a:t>LOCATION: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Lebu Industrial Center, Addis Ababa</a:t>
            </a:r>
          </a:p>
          <a:p>
            <a:pPr>
              <a:spcBef>
                <a:spcPts val="400"/>
              </a:spcBef>
              <a:defRPr sz="950" b="1">
                <a:solidFill>
                  <a:srgbClr val="0EA5E9"/>
                </a:solidFill>
                <a:latin typeface="Arial"/>
              </a:defRPr>
            </a:pPr>
            <a:r>
              <a:t>SPECIALIZATION: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Surgical Tools, Syringes, Feed Supplements, Disinfectants (China)</a:t>
            </a:r>
          </a:p>
          <a:p>
            <a:pPr>
              <a:spcBef>
                <a:spcPts val="400"/>
              </a:spcBef>
              <a:defRPr sz="950" b="1">
                <a:solidFill>
                  <a:srgbClr val="0EA5E9"/>
                </a:solidFill>
                <a:latin typeface="Arial"/>
              </a:defRPr>
            </a:pPr>
            <a:r>
              <a:t>TARGET MARKETS: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Oromia, Southern Nations, Sidama Regional Distributors</a:t>
            </a:r>
          </a:p>
          <a:p>
            <a:pPr>
              <a:spcBef>
                <a:spcPts val="400"/>
              </a:spcBef>
              <a:defRPr sz="950" b="1">
                <a:solidFill>
                  <a:srgbClr val="0EA5E9"/>
                </a:solidFill>
                <a:latin typeface="Arial"/>
              </a:defRPr>
            </a:pPr>
            <a:r>
              <a:t>CORE ENGINES: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High-Velocity Picking, Carton/Unit Level Matrix, Inter-Warehouse Transfers, Credit Sales Tracking</a:t>
            </a:r>
          </a:p>
          <a:p>
            <a:pPr>
              <a:spcBef>
                <a:spcPts val="400"/>
              </a:spcBef>
              <a:defRPr sz="950" b="1">
                <a:solidFill>
                  <a:srgbClr val="0EA5E9"/>
                </a:solidFill>
                <a:latin typeface="Arial"/>
              </a:defRPr>
            </a:pPr>
            <a:r>
              <a:t>STATUS: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Fully Active • Regional Fast-Fulfillment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WH1 AGRICULTURAL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From ECX Intake to Djibouti Port: Zero Discrepancy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Advanced toll processing, cleaning, destoning, and quality scorecards tailored for Ethiopian export commodities.</a:t>
            </a:r>
          </a:p>
        </p:txBody>
      </p:sp>
      <p:pic>
        <p:nvPicPr>
          <p:cNvPr id="6" name="Picture 5" descr="hk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11480"/>
            <a:ext cx="1280160" cy="733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HKC ERP v5 • Strategic Enterprise Deck • Powered by Next-Gen React 19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694944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64922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The End-to-End Processing &amp; Shrinkage Pipeline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Precision yield calculation ensuring full recovery of raw vs clean commodity volumes</a:t>
            </a:r>
          </a:p>
          <a:p>
            <a:pPr>
              <a:spcBef>
                <a:spcPts val="400"/>
              </a:spcBef>
              <a:defRPr sz="1150" b="1">
                <a:solidFill>
                  <a:srgbClr val="10B981"/>
                </a:solidFill>
                <a:latin typeface="Arial"/>
              </a:defRPr>
            </a:pPr>
            <a:r>
              <a:t>1. Raw Commodity Ingestion &amp; Lab Tally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Direct ECX trucks arrive at Modjo. Automated intake recording initial weight, moisture content, defect percentage, and supplier lot ID.</a:t>
            </a:r>
          </a:p>
          <a:p>
            <a:pPr>
              <a:spcBef>
                <a:spcPts val="400"/>
              </a:spcBef>
              <a:defRPr sz="1150" b="1">
                <a:solidFill>
                  <a:srgbClr val="10B981"/>
                </a:solidFill>
                <a:latin typeface="Arial"/>
              </a:defRPr>
            </a:pPr>
            <a:r>
              <a:t>2. Multi-Stage Cleaning, Destoning &amp; Hulling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Mechanical processing across gravity tables, destoners, and optical sorters. System isolates impurities, reject beans, and clean export grade.</a:t>
            </a:r>
          </a:p>
          <a:p>
            <a:pPr>
              <a:spcBef>
                <a:spcPts val="400"/>
              </a:spcBef>
              <a:defRPr sz="1150" b="1">
                <a:solidFill>
                  <a:srgbClr val="10B981"/>
                </a:solidFill>
                <a:latin typeface="Arial"/>
              </a:defRPr>
            </a:pPr>
            <a:r>
              <a:t>3. Dynamic Shrinkage &amp; Yield Analytics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Automated calculation of processing shrinkage. Real-time reconciliation comparing intake weight vs net bagged export volume.</a:t>
            </a:r>
          </a:p>
          <a:p>
            <a:pPr>
              <a:spcBef>
                <a:spcPts val="400"/>
              </a:spcBef>
              <a:defRPr sz="1150" b="1">
                <a:solidFill>
                  <a:srgbClr val="10B981"/>
                </a:solidFill>
                <a:latin typeface="Arial"/>
              </a:defRPr>
            </a:pPr>
            <a:r>
              <a:t>4. Automated Toll Service Fee Engine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Instant processing fee computation based on tiered rates (USD/ETB per quintal). Invoices and accounts receivable generated automatically.</a:t>
            </a:r>
          </a:p>
          <a:p>
            <a:pPr>
              <a:spcBef>
                <a:spcPts val="400"/>
              </a:spcBef>
              <a:defRPr sz="1150" b="1">
                <a:solidFill>
                  <a:srgbClr val="10B981"/>
                </a:solidFill>
                <a:latin typeface="Arial"/>
              </a:defRPr>
            </a:pPr>
            <a:r>
              <a:t>5. Official Model 19 Receiving &amp; Bin Card Ledger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One-click generation of statutory Model 19 vouchers and electronic Bin Cards compliant with Ethiopian customs audits.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74519"/>
            <a:ext cx="3566160" cy="2103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0574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Supplier Quality Scorecards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Live Performance Rating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• Tracks purity, moisture &amp; yield by supplier.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• Identifies high-yield cooperatives automatically.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• Enforces deduction penalties on substandard raw grain.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160520"/>
            <a:ext cx="3566160" cy="2103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43434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Export Certification Vault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Regulatory Compliance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• Embedded Phytosanitary Certificate tracking.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• Certificate of Origin &amp; ECX inspection linkages.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• Instant export lot traceability for international buyers in Europe &amp; 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HEALTHCARE &amp; VETERINARY PRECISION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WH2 &amp; WH3 Pharma Governance: Zero Expired 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Strict First-Expired, First-Out (FEFO) dispatch algorithms, multi-stage expiry radar, and quarantine lockouts.</a:t>
            </a:r>
          </a:p>
        </p:txBody>
      </p:sp>
      <p:pic>
        <p:nvPicPr>
          <p:cNvPr id="6" name="Picture 5" descr="hk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11480"/>
            <a:ext cx="1280160" cy="733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HKC ERP v5 • Strategic Enterprise Deck • Powered by Next-Gen React 19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Strict FEFO Enforcement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Automated Dispatch Priority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System strictly forbids older expiry batches from remaining on shelves while newer ones ship.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Sales order reservation engine automatically pulls the earliest valid expiry lot.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Eradicates manual picker errors and eliminates tens of thousands in expired product write-downs.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Triple-Tier Expiry Radar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Proactive Alerting Windows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Level 1 (&lt; 90 Days): Warning notification to sales managers to activate discount promotions.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Level 2 (&lt; 60 Days): Automatic restriction to short-lead domestic distribution only.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Level 3 (&lt; 30 Days): Critical alert; dispatches blocked without executive approval stamp.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One-Click Quarantine Matrix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Immediate Regulatory Isolation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Instant quarantine hold on any batch flagged by EFDA or internal lab QA.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Quarantined stock is immediately excluded from available-to-promise inventory across all channels.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Complete audit trail recording who initiated quarantine, reasons, and temperature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DUAL-ENGINE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Peachtree (Sage 50) Harmony &amp; Ethiopian Tax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Seamlessly unites modern real-time operational ERP with traditional Ethiopian statutory accounting systems.</a:t>
            </a:r>
          </a:p>
        </p:txBody>
      </p:sp>
      <p:pic>
        <p:nvPicPr>
          <p:cNvPr id="6" name="Picture 5" descr="hk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11480"/>
            <a:ext cx="1280160" cy="733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HKC ERP v5 • Strategic Enterprise Deck • Powered by Next-Gen React 19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Native Peachtree Integration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Zero Double-Entry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1-Click Bi-Directional Peachtree CSV / Excel Sync.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Import beginning balances &amp; partner ledger accounts.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Export sales journals, purchase journals, and general ledger batches directly formatted for Sage 50.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Closes the gap between warehouse floor operations and finance office ledgers.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Dynamic COA Split Engine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Granular Cost Allocation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Split general ledger accounts across single sales issues, purchase orders, or invoice line items.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Allocate freight, port clearance, customs duties, and handling directly to appropriate inventory asset accounts.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Instant COGS (Cost of Goods Sold) recognition as items are dispatched from WH1, WH2, or WH3.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Ethiopian Tax &amp; Bank Engine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Statutory Compliance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Automated 15% VAT computation with compliant invoice numbering.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2% Withholding Tax on domestic goods &amp; 30% on unreceipted services.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Native bank reconciliation templates for Commercial Bank of Ethiopia (CBE), Awash, Dashen &amp; Abyssinia.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Audit-ready tax export for ERCA / Ministry of Revenue.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PAPERLESS TRADE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HKC Docs: In-App Camera Capture &amp; Trade 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Turning physical paper bottlenecks into instant digital proof attached directly to transactions.</a:t>
            </a:r>
          </a:p>
        </p:txBody>
      </p:sp>
      <p:pic>
        <p:nvPicPr>
          <p:cNvPr id="6" name="Picture 5" descr="hk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11480"/>
            <a:ext cx="1280160" cy="733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HKC ERP v5 • Strategic Enterprise Deck • Powered by Next-Gen React 19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4864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5029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Digital Proof Pipeline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Direct capture on phone, tablet or desktop</a:t>
            </a:r>
          </a:p>
          <a:p>
            <a:pPr>
              <a:spcBef>
                <a:spcPts val="400"/>
              </a:spcBef>
              <a:defRPr sz="1200" b="1">
                <a:solidFill>
                  <a:srgbClr val="0EA5E9"/>
                </a:solidFill>
                <a:latin typeface="Arial"/>
              </a:defRPr>
            </a:pPr>
            <a:r>
              <a:t>Live In-Browser Camera Capture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Warehouse clerks capture physical delivery notes, customs stamps, and truck seals directly through the web app without external scanners.</a:t>
            </a:r>
          </a:p>
          <a:p>
            <a:pPr>
              <a:spcBef>
                <a:spcPts val="400"/>
              </a:spcBef>
              <a:defRPr sz="1200" b="1">
                <a:solidFill>
                  <a:srgbClr val="0EA5E9"/>
                </a:solidFill>
                <a:latin typeface="Arial"/>
              </a:defRPr>
            </a:pPr>
            <a:r>
              <a:t>Multi-Document Attachment Matrix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Attach Bills of Lading, Phytosanitary Certificates, Bank Forex permits, Commercial Invoices, and Packing Lists to any Sales or Purchase record.</a:t>
            </a:r>
          </a:p>
          <a:p>
            <a:pPr>
              <a:spcBef>
                <a:spcPts val="400"/>
              </a:spcBef>
              <a:defRPr sz="1200" b="1">
                <a:solidFill>
                  <a:srgbClr val="0EA5E9"/>
                </a:solidFill>
                <a:latin typeface="Arial"/>
              </a:defRPr>
            </a:pPr>
            <a:r>
              <a:t>Built-in Inspection Viewer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Interactive zoom, page rotation, and preview modal for PDFs and high-res photos without downloading files locally.</a:t>
            </a:r>
          </a:p>
          <a:p>
            <a:pPr>
              <a:spcBef>
                <a:spcPts val="400"/>
              </a:spcBef>
              <a:defRPr sz="1200" b="1">
                <a:solidFill>
                  <a:srgbClr val="0EA5E9"/>
                </a:solidFill>
                <a:latin typeface="Arial"/>
              </a:defRPr>
            </a:pPr>
            <a:r>
              <a:t>Permanent Audit Immutability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Uploaded documents are linked with cryptographic timestamps and user operator IDs, preventing document swapping or loss during customs reviews.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50292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572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Pre-Configured Document Taxonomy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Standardized for Ethiopian Import/Export</a:t>
            </a:r>
          </a:p>
          <a:p>
            <a:pPr>
              <a:spcBef>
                <a:spcPts val="400"/>
              </a:spcBef>
              <a:defRPr sz="1150" b="1">
                <a:solidFill>
                  <a:srgbClr val="F59E0B"/>
                </a:solidFill>
                <a:latin typeface="Arial"/>
              </a:defRPr>
            </a:pPr>
            <a:r>
              <a:t>• Customs &amp; Border Declarations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Djibouti Transit Documents, Single Administrative Documents (SAD), Port Clearing Tallies</a:t>
            </a:r>
          </a:p>
          <a:p>
            <a:pPr>
              <a:spcBef>
                <a:spcPts val="400"/>
              </a:spcBef>
              <a:defRPr sz="1150" b="1">
                <a:solidFill>
                  <a:srgbClr val="F59E0B"/>
                </a:solidFill>
                <a:latin typeface="Arial"/>
              </a:defRPr>
            </a:pPr>
            <a:r>
              <a:t>• Quality &amp; Quarantine Certificates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Phytosanitary Certificates, Ethiopian FDA Release Vouchers, ECX Grade Slips</a:t>
            </a:r>
          </a:p>
          <a:p>
            <a:pPr>
              <a:spcBef>
                <a:spcPts val="400"/>
              </a:spcBef>
              <a:defRPr sz="1150" b="1">
                <a:solidFill>
                  <a:srgbClr val="F59E0B"/>
                </a:solidFill>
                <a:latin typeface="Arial"/>
              </a:defRPr>
            </a:pPr>
            <a:r>
              <a:t>• Banking &amp; Forex Records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Bank Permit Letters, NBE FX Approval Notices, Letters of Credit (LC), Swift Confirmations</a:t>
            </a:r>
          </a:p>
          <a:p>
            <a:pPr>
              <a:spcBef>
                <a:spcPts val="400"/>
              </a:spcBef>
              <a:defRPr sz="1150" b="1">
                <a:solidFill>
                  <a:srgbClr val="F59E0B"/>
                </a:solidFill>
                <a:latin typeface="Arial"/>
              </a:defRPr>
            </a:pPr>
            <a:r>
              <a:t>• Commercial &amp; Transport Vouchers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Commercial Invoices, Bills of Lading (BoL), Delivery Notes, Consignment Notes, Waybills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HUMAN RESOURCE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Workforce Governance &amp; Ethiopian Statutory Payroll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Fully automated income tax brackets, pension fund compliance, and complete employee lifecycle management.</a:t>
            </a:r>
          </a:p>
        </p:txBody>
      </p:sp>
      <p:pic>
        <p:nvPicPr>
          <p:cNvPr id="6" name="Picture 5" descr="hk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11480"/>
            <a:ext cx="1280160" cy="733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HKC ERP v5 • Strategic Enterprise Deck • Powered by Next-Gen React 19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Statutory Income Tax Brackets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Proclamation Compliant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Precise progressive Ethiopian income tax computation (0% up to 35%).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Automatic non-taxable basic allowance exclusion.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Separate calculation for taxable allowances (transport, representation) vs non-taxable exemptions.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Eliminates monthly tax accounting errors and penalty exposures.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Automated Pension Funds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Social Security Agency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Automatic calculation of 7% Employee Pension deduction.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Automatic computation of 11% Employer Pension contribution (Total 18%).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Generates official monthly Pension Summary Schedules ready for submission to the Private Organizations Employees Pension Agency (POEPA).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Lifecycle &amp; Attendance Suite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Hire to Separation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Biometric / digital daily attendance and overtime multiplier calculations.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Leave ledger: annual leave accrual, sick leave, maternity leave, and emergency quota.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Recruitment pipeline, contract renewal alerts, and structured separation severance calculation.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EXECUTIVE COCKPIT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Executive Control Center &amp; 360° Real-Time Auditability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Empowering leadership with instant financial visibility, aged receivables, and tamper-evident audit logs.</a:t>
            </a:r>
          </a:p>
        </p:txBody>
      </p:sp>
      <p:pic>
        <p:nvPicPr>
          <p:cNvPr id="6" name="Picture 5" descr="hk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11480"/>
            <a:ext cx="1280160" cy="733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HKC ERP v5 • Strategic Enterprise Deck • Powered by Next-Gen React 19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212080" cy="2103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Real-Time Financial Cockpit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Live Treasury &amp; Margin Tracking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• Consolidated revenue velocity across agricultural export and veterinary distribution.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• Gross profit margins calculated per product batch, customer, and warehouse.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• Live liquidity counter tracking cash at hand and bank balances across all Ethiopian bank accounts.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212080" cy="2103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Customer Receivables &amp; Aging Radar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Credit Risk Prevention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• Multi-tier aged receivables ledger: 0-30, 31-60, 61-90, and 90+ days overdue.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• Automatic credit limit enforcement: blocks unauthorized new dispatches to delinquent accounts.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• Printable customer statements and credit sales attachment vouchers.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103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434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Unified Multi-Tier Approval Gates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Institutional Governance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• Multi-level sign-offs for high-value sales orders, credit issues, and price overrides.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• Inventory write-offs and quarantine releases require dual management authorization.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• Mobile-friendly approval queue for executives on the move.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60520"/>
            <a:ext cx="5212080" cy="2103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3434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Tamper-Evident Immutable Audit Log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Forensic Accountability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• Every user click, status update, price modification, and login event is permanently captured.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• Zero-delay log synchronization: no action is unrecorded.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• Pre-built search and filtering for internal auditors and external compliance reviews.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ENGINEERING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Modern Tech Stack: Speed, Security &amp; Zero Spinners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Constructed using top-tier enterprise web technologies for instantaneous responsiveness and offline reliability.</a:t>
            </a:r>
          </a:p>
        </p:txBody>
      </p:sp>
      <p:pic>
        <p:nvPicPr>
          <p:cNvPr id="6" name="Picture 5" descr="hk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11480"/>
            <a:ext cx="1280160" cy="733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HKC ERP v5 • Strategic Enterprise Deck • Powered by Next-Gen React 19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Frontend: 60fps Experience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Modern React 19 Ecosystem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React 19 &amp; Vite 7: Sub-millisecond HMR and lightning build pipeline.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Tailwind CSS v4: Micro-animations, responsive layout, ultra-clean code.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Zero Spinner Rule: High-polish pulse skeleton screens replace disruptive loading spinners.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Framer Motion &amp; Radix UI: Accessible, keyboard-navigable modern modals and drawers.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Backend: High-Throughput REST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Node.js 22 &amp; Express 5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Express 5 Engine: Clean asynchronous pipeline with robust error boundaries.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Drizzle ORM: Type-safe SQL schema design, zero runtime overhead, instant queries.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Multi-Environment Persistence: Local MySQL 8 with Plesk production export compatibility.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Enterprise JWT &amp; Bcrypt: Secure token refresh cycles and hashed credential vaults.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429000" cy="438912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57400"/>
            <a:ext cx="29718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Security: Granular RBAC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Role-Based Access Control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Tailored Roles: Super Admin, Sales Manager, Finance Manager, Inventory Manager, HR Manager, Operator, Auditor.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Warehouse-Level Scoping: Clerks only see permitted warehouses (e.g. WH1 vs WH2).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Session Inactivity Guard: Auto-warning modal preventing unattended terminal hijacking.</a:t>
            </a:r>
          </a:p>
          <a:p>
            <a:pPr>
              <a:spcAft>
                <a:spcPts val="7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Multi-tenant &amp; branch expansion ready.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VALUE REALIZATION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Proven Business Impact: High-Velocity Return on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Quantifiable operational breakthroughs delivered across HKC Trading's export and import operations.</a:t>
            </a:r>
          </a:p>
        </p:txBody>
      </p:sp>
      <p:pic>
        <p:nvPicPr>
          <p:cNvPr id="6" name="Picture 5" descr="hk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11480"/>
            <a:ext cx="1280160" cy="733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HKC ERP v5 • Strategic Enterprise Deck • Powered by Next-Gen React 19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514600" cy="4297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10B981"/>
                </a:solidFill>
                <a:latin typeface="Arial"/>
              </a:defRPr>
            </a:pPr>
            <a:r>
              <a:t>-85%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CUSTOMS TURNAROUND DELAY</a:t>
            </a:r>
          </a:p>
          <a:p>
            <a:pPr algn="ctr">
              <a:defRPr sz="1050">
                <a:solidFill>
                  <a:srgbClr val="E2E8F0"/>
                </a:solidFill>
                <a:latin typeface="Arial"/>
              </a:defRPr>
            </a:pPr>
            <a:r>
              <a:t>Immediate retrieval of scanned Phytosanitary and Origin certificates slashes border clearance wait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20240"/>
            <a:ext cx="2514600" cy="4297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A855F7"/>
                </a:solidFill>
                <a:latin typeface="Arial"/>
              </a:defRPr>
            </a:pPr>
            <a:r>
              <a:t>0%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EXPIRED MEDICINE LOSSES</a:t>
            </a:r>
          </a:p>
          <a:p>
            <a:pPr algn="ctr">
              <a:defRPr sz="1050">
                <a:solidFill>
                  <a:srgbClr val="E2E8F0"/>
                </a:solidFill>
                <a:latin typeface="Arial"/>
              </a:defRPr>
            </a:pPr>
            <a:r>
              <a:t>Automated FEFO dispatch and 30-day early warning alarms eradicate expired veterinary pharmaceutical inventory.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2514600" cy="4297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59E0B"/>
                </a:solidFill>
                <a:latin typeface="Arial"/>
              </a:defRPr>
            </a:pPr>
            <a:r>
              <a:t>3.2x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FASTER MONTH-END CLOSING</a:t>
            </a:r>
          </a:p>
          <a:p>
            <a:pPr algn="ctr">
              <a:defRPr sz="1050">
                <a:solidFill>
                  <a:srgbClr val="E2E8F0"/>
                </a:solidFill>
                <a:latin typeface="Arial"/>
              </a:defRPr>
            </a:pPr>
            <a:r>
              <a:t>1-Click Peachtree sync and automated COA split rules cut finance reconciliation from 12 days to under 4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920240"/>
            <a:ext cx="2514600" cy="4297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0EA5E9"/>
                </a:solidFill>
                <a:latin typeface="Arial"/>
              </a:defRPr>
            </a:pPr>
            <a:r>
              <a:t>100%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AUDIT &amp; TAX COMPLIANCE</a:t>
            </a:r>
          </a:p>
          <a:p>
            <a:pPr algn="ctr">
              <a:defRPr sz="1050">
                <a:solidFill>
                  <a:srgbClr val="E2E8F0"/>
                </a:solidFill>
                <a:latin typeface="Arial"/>
              </a:defRPr>
            </a:pPr>
            <a:r>
              <a:t>Zero tax calculation discrepancies across ERCA VAT, WHT, and employee pension schedules.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  <a:latin typeface="Arial"/>
              </a:defRPr>
            </a:pPr>
            <a:r>
              <a:t>STRATEGIC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Roadmap: The Future of HKC Intelligent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From foundational multi-hub automation to real-time IoT and predictive trade intelligence.</a:t>
            </a:r>
          </a:p>
        </p:txBody>
      </p:sp>
      <p:pic>
        <p:nvPicPr>
          <p:cNvPr id="6" name="Picture 5" descr="hk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11480"/>
            <a:ext cx="1280160" cy="733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HKC ERP v5 • Strategic Enterprise Deck • Powered by Next-Gen React 19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429000" cy="36576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Phase 1: Operational Core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Current Milestone • 100% Deployed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✔ Tri-Hub Warehouse Architecture (WH1, WH2, WH3)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✔ Toll Processing &amp; Shrinkage Calculation Ledger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✔ FEFO Expiry Radar &amp; Quarantine Matrix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✔ Peachtree Dual Sync &amp; Ethiopian Tax Engine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✔ Digital HKC Docs &amp; Statutory HR/Payroll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429000" cy="36576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Phase 2: Mobile &amp; Realtime IoT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Immediate Next Horizon (Q4 2026)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➤ Handheld Rugged Barcode / QR Scanners on warehouse floor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➤ IoT Cold-Chain Temperature Telemetry for Vaccine storage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➤ Automated SMS / Telegram Customer Dispatch Alerts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➤ Direct Electronic Bank API integration for CBE &amp; Awash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➤ Multi-branch expansion to Hawassa and Dire Dawa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429000" cy="36576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5740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Phase 3: AI Predictive Trade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Vision 2027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★ AI Commodity Price Forecasting for Coffee &amp; Sesame (ECX trends)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★ Port Djibouti Automated EDI Manifest Sync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★ Machine Learning Supplier Yield Prediction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★ Autonomous Reorder Point Optimization for Veterinary Drugs</a:t>
            </a:r>
          </a:p>
          <a:p>
            <a:pPr>
              <a:spcAft>
                <a:spcPts val="5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★ Pan-African Cross-Border Settlement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10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HKC ERP v5: Empowering Ethiopian Agricultural &amp; Healthcare Trade with Sovereign Tech Excellence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